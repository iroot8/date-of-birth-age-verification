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61" r:id="rId3"/>
    <p:sldId id="264" r:id="rId4"/>
    <p:sldId id="266" r:id="rId5"/>
    <p:sldId id="318" r:id="rId6"/>
    <p:sldId id="274" r:id="rId7"/>
    <p:sldId id="286" r:id="rId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719B"/>
    <a:srgbClr val="214447"/>
    <a:srgbClr val="FFFFFF"/>
    <a:srgbClr val="EEEEEE"/>
    <a:srgbClr val="286FE5"/>
    <a:srgbClr val="8C8C8C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2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8686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03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3252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3252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0226804" y="3323566"/>
            <a:ext cx="7896225" cy="484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3000" b="1" dirty="0">
                <a:latin typeface="+mj-lt"/>
                <a:cs typeface="Arial" panose="020B0604020202020204" pitchFamily="34" charset="0"/>
              </a:rPr>
              <a:t>ИНДИВИДУАЛЬНЫЙ ПРОЕКТ ПО ТЕМЕ «ПРОГРАММА ПО ПРОВЕРКЕ ВОЗРАСТА ПО ДАТЕ РОЖДЕНИЯ»</a:t>
            </a:r>
          </a:p>
          <a:p>
            <a:pPr marL="0" indent="0" algn="ctr">
              <a:buNone/>
            </a:pPr>
            <a:endParaRPr lang="ru-RU" sz="3000" b="1" dirty="0">
              <a:latin typeface="+mj-lt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ru-RU" sz="3000" b="1" dirty="0">
              <a:latin typeface="+mj-lt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3000" b="1" dirty="0">
                <a:latin typeface="+mj-lt"/>
                <a:cs typeface="Arial" panose="020B0604020202020204" pitchFamily="34" charset="0"/>
              </a:rPr>
              <a:t>ВЫПОЛНИЛ:</a:t>
            </a:r>
          </a:p>
          <a:p>
            <a:pPr marL="0" indent="0">
              <a:buNone/>
            </a:pPr>
            <a:r>
              <a:rPr lang="ru-RU" sz="3000" b="1" dirty="0">
                <a:latin typeface="+mj-lt"/>
                <a:cs typeface="Arial" panose="020B0604020202020204" pitchFamily="34" charset="0"/>
              </a:rPr>
              <a:t>СТУДЕНТ 2 КУРСА ГРУППЫ ИБ-41</a:t>
            </a:r>
          </a:p>
          <a:p>
            <a:pPr marL="0" indent="0">
              <a:buNone/>
            </a:pPr>
            <a:r>
              <a:rPr lang="ru-RU" sz="3000" b="1" dirty="0">
                <a:latin typeface="+mj-lt"/>
                <a:cs typeface="Arial" panose="020B0604020202020204" pitchFamily="34" charset="0"/>
              </a:rPr>
              <a:t>ВЕРЕВКИН ИВАН ДМИТРИЕВИЧ</a:t>
            </a:r>
          </a:p>
          <a:p>
            <a:pPr marL="0" indent="0">
              <a:buNone/>
            </a:pPr>
            <a:r>
              <a:rPr lang="ru-RU" sz="3000" b="1" dirty="0">
                <a:latin typeface="+mj-lt"/>
                <a:cs typeface="Arial" panose="020B0604020202020204" pitchFamily="34" charset="0"/>
              </a:rPr>
              <a:t>ПРЕПОДАВАТЕЛЬ:</a:t>
            </a:r>
          </a:p>
          <a:p>
            <a:pPr marL="0" indent="0">
              <a:buNone/>
            </a:pPr>
            <a:r>
              <a:rPr lang="ru-RU" sz="3000" b="1" dirty="0">
                <a:latin typeface="+mj-lt"/>
                <a:cs typeface="Arial" panose="020B0604020202020204" pitchFamily="34" charset="0"/>
              </a:rPr>
              <a:t>ЛИПАТНИКОВА НАДЕЖДА МИХАЙЛОВНА</a:t>
            </a:r>
            <a:br>
              <a:rPr lang="ru-RU" sz="3200" b="1" dirty="0">
                <a:latin typeface="+mj-lt"/>
                <a:cs typeface="Arial" panose="020B0604020202020204" pitchFamily="34" charset="0"/>
              </a:rPr>
            </a:br>
            <a:r>
              <a:rPr lang="ru-RU" sz="3200" b="1" dirty="0">
                <a:latin typeface="+mj-lt"/>
                <a:cs typeface="Arial" panose="020B0604020202020204" pitchFamily="34" charset="0"/>
              </a:rPr>
              <a:t> </a:t>
            </a:r>
            <a:endParaRPr lang="en-US" sz="32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5FA5DE-6D72-EE95-AE32-AC4BDC29210E}"/>
              </a:ext>
            </a:extLst>
          </p:cNvPr>
          <p:cNvSpPr txBox="1"/>
          <p:nvPr/>
        </p:nvSpPr>
        <p:spPr>
          <a:xfrm>
            <a:off x="7060884" y="9456003"/>
            <a:ext cx="28824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Долгопрудный, 2026</a:t>
            </a:r>
            <a:endParaRPr lang="ru-US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US" sz="2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EFEFB50-A326-D8D5-F9CB-54AAF60C7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583" y="980264"/>
            <a:ext cx="6503882" cy="65038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-"/>
          <p:cNvSpPr/>
          <p:nvPr/>
        </p:nvSpPr>
        <p:spPr>
          <a:xfrm>
            <a:off x="714375" y="714375"/>
            <a:ext cx="146018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rtl="0"/>
            <a:r>
              <a:rPr lang="ru-RU" sz="3200" b="1" i="0" u="none" strike="noStrike" dirty="0">
                <a:effectLst/>
                <a:latin typeface="+mj-lt"/>
              </a:rPr>
              <a:t>Актуальность и проблема</a:t>
            </a:r>
          </a:p>
        </p:txBody>
      </p:sp>
      <p:sp>
        <p:nvSpPr>
          <p:cNvPr id="4" name="600"/>
          <p:cNvSpPr/>
          <p:nvPr/>
        </p:nvSpPr>
        <p:spPr>
          <a:xfrm>
            <a:off x="2551421" y="6080319"/>
            <a:ext cx="4438651" cy="2260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500"/>
              </a:lnSpc>
              <a:buNone/>
            </a:pPr>
            <a:endParaRPr lang="en-US" sz="2400" dirty="0"/>
          </a:p>
        </p:txBody>
      </p:sp>
      <p:sp>
        <p:nvSpPr>
          <p:cNvPr id="5" name="Блок-схема: данные 4">
            <a:extLst>
              <a:ext uri="{FF2B5EF4-FFF2-40B4-BE49-F238E27FC236}">
                <a16:creationId xmlns:a16="http://schemas.microsoft.com/office/drawing/2014/main" id="{15C3AF30-497B-D891-E153-F82130944BAE}"/>
              </a:ext>
            </a:extLst>
          </p:cNvPr>
          <p:cNvSpPr/>
          <p:nvPr/>
        </p:nvSpPr>
        <p:spPr>
          <a:xfrm>
            <a:off x="883296" y="3554920"/>
            <a:ext cx="5486400" cy="3177159"/>
          </a:xfrm>
          <a:prstGeom prst="flowChartInputOutput">
            <a:avLst/>
          </a:prstGeom>
          <a:solidFill>
            <a:srgbClr val="3E719B"/>
          </a:solidFill>
          <a:ln>
            <a:solidFill>
              <a:srgbClr val="3E71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A81810-E175-6784-685C-B6DC9EC64090}"/>
              </a:ext>
            </a:extLst>
          </p:cNvPr>
          <p:cNvSpPr txBox="1"/>
          <p:nvPr/>
        </p:nvSpPr>
        <p:spPr>
          <a:xfrm>
            <a:off x="2054113" y="3885789"/>
            <a:ext cx="33112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Проблема</a:t>
            </a:r>
          </a:p>
          <a:p>
            <a:r>
              <a:rPr lang="ru-RU" sz="2400" dirty="0">
                <a:solidFill>
                  <a:schemeClr val="bg1"/>
                </a:solidFill>
              </a:rPr>
              <a:t>Пользователи различных платформ имеют сложность в определении возраста других пользователей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17E39D5-8C59-BEF8-3BCC-FED2F24B1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4938" y="1333500"/>
            <a:ext cx="5511262" cy="31945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97B4935-DC23-9648-9431-C32D1322378B}"/>
              </a:ext>
            </a:extLst>
          </p:cNvPr>
          <p:cNvSpPr txBox="1"/>
          <p:nvPr/>
        </p:nvSpPr>
        <p:spPr>
          <a:xfrm>
            <a:off x="11082528" y="1782694"/>
            <a:ext cx="33192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Аудитория</a:t>
            </a:r>
          </a:p>
          <a:p>
            <a:r>
              <a:rPr lang="ru-RU" sz="2400" dirty="0">
                <a:solidFill>
                  <a:schemeClr val="bg1"/>
                </a:solidFill>
              </a:rPr>
              <a:t>Сотрудники магазинов, сотрудники компаний, обычные пользователи, охранники ночных клубов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E4BE6CF-5C96-446A-B7B1-CCA4D70752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2625" y="5616451"/>
            <a:ext cx="5511262" cy="318848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E37D5A9-C8BC-9C98-5D96-95D2AE6BDF69}"/>
              </a:ext>
            </a:extLst>
          </p:cNvPr>
          <p:cNvSpPr txBox="1"/>
          <p:nvPr/>
        </p:nvSpPr>
        <p:spPr>
          <a:xfrm>
            <a:off x="11850623" y="5687199"/>
            <a:ext cx="368478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Основная идея</a:t>
            </a:r>
          </a:p>
          <a:p>
            <a:r>
              <a:rPr lang="ru-RU" sz="2400" dirty="0">
                <a:solidFill>
                  <a:schemeClr val="bg1"/>
                </a:solidFill>
              </a:rPr>
              <a:t>Разработать программу, которая автоматически определяет возраст по дате рождения (ДД.ММ.ГГ) и в результате выдаёт фактический возраст пользователя.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fault_name"/>
          <p:cNvSpPr/>
          <p:nvPr/>
        </p:nvSpPr>
        <p:spPr>
          <a:xfrm>
            <a:off x="714375" y="714375"/>
            <a:ext cx="5643085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latin typeface="+mj-lt"/>
              </a:rPr>
              <a:t>USE-CASE </a:t>
            </a:r>
            <a:r>
              <a:rPr lang="ru-RU" sz="3000" b="1" dirty="0">
                <a:latin typeface="+mj-lt"/>
              </a:rPr>
              <a:t>диаграмма</a:t>
            </a:r>
            <a:endParaRPr lang="en-US" sz="3000" b="1" dirty="0">
              <a:latin typeface="+mj-lt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47750" y="2062162"/>
            <a:ext cx="7576705" cy="550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>
              <a:lnSpc>
                <a:spcPct val="125000"/>
              </a:lnSpc>
            </a:pPr>
            <a:endParaRPr lang="ru-RU" sz="2400" dirty="0">
              <a:solidFill>
                <a:srgbClr val="000000"/>
              </a:solidFill>
              <a:ea typeface="Nunito Sans SemiBold" pitchFamily="34" charset="-122"/>
              <a:cs typeface="Nunito Sans SemiBold" pitchFamily="34" charset="-12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A8128E2-56DA-4EBB-7DF0-FB7E9278B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093" y="1123950"/>
            <a:ext cx="4350449" cy="81083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fault_name"/>
          <p:cNvSpPr/>
          <p:nvPr/>
        </p:nvSpPr>
        <p:spPr>
          <a:xfrm>
            <a:off x="714375" y="714375"/>
            <a:ext cx="5643085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3200" b="1" dirty="0">
                <a:solidFill>
                  <a:srgbClr val="FFFFFF"/>
                </a:solidFill>
                <a:latin typeface="+mj-lt"/>
                <a:ea typeface="Nunito ExtraBold" pitchFamily="34" charset="-122"/>
                <a:cs typeface="Nunito ExtraBold" pitchFamily="34" charset="-120"/>
              </a:rPr>
              <a:t>Блок-схема</a:t>
            </a:r>
            <a:endParaRPr lang="en-US" sz="3200" b="1" dirty="0">
              <a:latin typeface="+mj-lt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20BEEE9D-5249-4E62-AE44-B2A5F393A1B8}"/>
              </a:ext>
            </a:extLst>
          </p:cNvPr>
          <p:cNvSpPr/>
          <p:nvPr/>
        </p:nvSpPr>
        <p:spPr>
          <a:xfrm>
            <a:off x="1047749" y="2295525"/>
            <a:ext cx="7660821" cy="5368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EBED5C-784F-4D4A-940F-C0184D497C84}"/>
              </a:ext>
            </a:extLst>
          </p:cNvPr>
          <p:cNvSpPr txBox="1"/>
          <p:nvPr/>
        </p:nvSpPr>
        <p:spPr>
          <a:xfrm>
            <a:off x="345686" y="385669"/>
            <a:ext cx="46389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dirty="0"/>
              <a:t>Блок-схема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F8768D6-C8AE-3164-5F8D-5A95A7F8F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149" y="939667"/>
            <a:ext cx="5389245" cy="82754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fault_name"/>
          <p:cNvSpPr/>
          <p:nvPr/>
        </p:nvSpPr>
        <p:spPr>
          <a:xfrm>
            <a:off x="467317" y="170059"/>
            <a:ext cx="4203313" cy="643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3000" b="1" dirty="0">
                <a:solidFill>
                  <a:srgbClr val="000000"/>
                </a:solidFill>
                <a:latin typeface="+mj-lt"/>
                <a:ea typeface="Nunito ExtraBold" pitchFamily="34" charset="-122"/>
                <a:cs typeface="Nunito ExtraBold" pitchFamily="34" charset="-120"/>
              </a:rPr>
              <a:t>Внешний вид программы</a:t>
            </a:r>
            <a:endParaRPr lang="en-US" sz="3000" b="1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F767DE-AB20-458A-B26C-7A74E6D10A7F}"/>
              </a:ext>
            </a:extLst>
          </p:cNvPr>
          <p:cNvSpPr txBox="1"/>
          <p:nvPr/>
        </p:nvSpPr>
        <p:spPr>
          <a:xfrm>
            <a:off x="881643" y="2138749"/>
            <a:ext cx="6230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Главное окно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6A93CD-6E70-4D6F-8EB7-613DA776ECD6}"/>
              </a:ext>
            </a:extLst>
          </p:cNvPr>
          <p:cNvSpPr txBox="1"/>
          <p:nvPr/>
        </p:nvSpPr>
        <p:spPr>
          <a:xfrm>
            <a:off x="10485399" y="2141654"/>
            <a:ext cx="6775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Тест программы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8575C43-DF65-A7B1-F14C-642707C13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360" y="2600414"/>
            <a:ext cx="6062656" cy="483271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369690F-A8B5-75B4-FCD8-F808D210D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397" y="2603319"/>
            <a:ext cx="6062655" cy="4856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044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fault_name"/>
          <p:cNvSpPr/>
          <p:nvPr/>
        </p:nvSpPr>
        <p:spPr>
          <a:xfrm>
            <a:off x="714374" y="714375"/>
            <a:ext cx="11204909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3200" b="1" dirty="0">
                <a:solidFill>
                  <a:srgbClr val="000000"/>
                </a:solidFill>
                <a:latin typeface="+mj-lt"/>
                <a:ea typeface="Nunito ExtraBold" pitchFamily="34" charset="-122"/>
                <a:cs typeface="Arial" panose="020B0604020202020204" pitchFamily="34" charset="0"/>
              </a:rPr>
              <a:t>Внешний вид программы, демонстрация работы программы </a:t>
            </a:r>
            <a:endParaRPr lang="en-US" sz="32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AFACA0-45B9-4302-93C4-786BD1CA49AC}"/>
              </a:ext>
            </a:extLst>
          </p:cNvPr>
          <p:cNvSpPr txBox="1"/>
          <p:nvPr/>
        </p:nvSpPr>
        <p:spPr>
          <a:xfrm>
            <a:off x="7465711" y="1991800"/>
            <a:ext cx="7096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Лог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FAC682-21EA-4BA2-96C3-1E42FE857F3D}"/>
              </a:ext>
            </a:extLst>
          </p:cNvPr>
          <p:cNvSpPr txBox="1"/>
          <p:nvPr/>
        </p:nvSpPr>
        <p:spPr>
          <a:xfrm>
            <a:off x="714374" y="1991801"/>
            <a:ext cx="6378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Ввод пароля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0A68B0-1DCB-578E-21C6-E61C59DC8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453466"/>
            <a:ext cx="5623694" cy="452340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418D3E8-0D1D-FA31-0FDE-187B137AD2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2438"/>
          <a:stretch>
            <a:fillRect/>
          </a:stretch>
        </p:blipFill>
        <p:spPr>
          <a:xfrm>
            <a:off x="7465711" y="2453466"/>
            <a:ext cx="10107914" cy="11526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7403" y="3417659"/>
            <a:ext cx="4112074" cy="450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ru-RU" sz="2200" dirty="0">
              <a:solidFill>
                <a:srgbClr val="000000"/>
              </a:solidFill>
              <a:ea typeface="Nunito Sans Medium" pitchFamily="34" charset="-122"/>
              <a:cs typeface="Nunito Sans Medium" pitchFamily="34" charset="-120"/>
            </a:endParaRPr>
          </a:p>
        </p:txBody>
      </p:sp>
      <p:sp>
        <p:nvSpPr>
          <p:cNvPr id="11" name="default_name"/>
          <p:cNvSpPr/>
          <p:nvPr/>
        </p:nvSpPr>
        <p:spPr>
          <a:xfrm>
            <a:off x="714375" y="714375"/>
            <a:ext cx="5643085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3200" b="1" dirty="0">
                <a:solidFill>
                  <a:srgbClr val="000000"/>
                </a:solidFill>
                <a:latin typeface="+mj-lt"/>
                <a:ea typeface="Nunito ExtraBold" pitchFamily="34" charset="-122"/>
                <a:cs typeface="Nunito ExtraBold" pitchFamily="34" charset="-120"/>
              </a:rPr>
              <a:t>ЗАКЛЮЧЕНИЕ</a:t>
            </a:r>
            <a:endParaRPr lang="en-US" sz="3200" b="1" dirty="0">
              <a:latin typeface="+mj-lt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F29CF344-3604-4C13-A41D-D64882ACC1C6}"/>
              </a:ext>
            </a:extLst>
          </p:cNvPr>
          <p:cNvSpPr/>
          <p:nvPr/>
        </p:nvSpPr>
        <p:spPr>
          <a:xfrm>
            <a:off x="7162801" y="3417659"/>
            <a:ext cx="4093028" cy="4646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EB689089-C2C8-4574-9DD4-69A2C957C5AB}"/>
              </a:ext>
            </a:extLst>
          </p:cNvPr>
          <p:cNvSpPr/>
          <p:nvPr/>
        </p:nvSpPr>
        <p:spPr>
          <a:xfrm>
            <a:off x="13055789" y="3558723"/>
            <a:ext cx="3838840" cy="4823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ru-RU" sz="2400" dirty="0">
              <a:solidFill>
                <a:srgbClr val="000000"/>
              </a:solidFill>
              <a:ea typeface="Nunito Sans Medium" pitchFamily="34" charset="-122"/>
              <a:cs typeface="Nunito Sans Medium" pitchFamily="34" charset="-120"/>
            </a:endParaRPr>
          </a:p>
        </p:txBody>
      </p:sp>
      <p:sp>
        <p:nvSpPr>
          <p:cNvPr id="8" name="Блок-схема: альтернативный процесс 7">
            <a:extLst>
              <a:ext uri="{FF2B5EF4-FFF2-40B4-BE49-F238E27FC236}">
                <a16:creationId xmlns:a16="http://schemas.microsoft.com/office/drawing/2014/main" id="{9BA75014-08D7-5F33-9B35-D06B3F045C5F}"/>
              </a:ext>
            </a:extLst>
          </p:cNvPr>
          <p:cNvSpPr/>
          <p:nvPr/>
        </p:nvSpPr>
        <p:spPr>
          <a:xfrm>
            <a:off x="1255826" y="2536151"/>
            <a:ext cx="4290347" cy="4994669"/>
          </a:xfrm>
          <a:prstGeom prst="flowChartAlternateProcess">
            <a:avLst/>
          </a:prstGeom>
          <a:solidFill>
            <a:srgbClr val="3E71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FCEE99-C2CB-536D-E373-2D5C7A2CE4EA}"/>
              </a:ext>
            </a:extLst>
          </p:cNvPr>
          <p:cNvSpPr txBox="1"/>
          <p:nvPr/>
        </p:nvSpPr>
        <p:spPr>
          <a:xfrm>
            <a:off x="2065975" y="2618448"/>
            <a:ext cx="3728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Будущие улучшения: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E6846D-9285-E796-3D6A-10DD75C84391}"/>
              </a:ext>
            </a:extLst>
          </p:cNvPr>
          <p:cNvSpPr txBox="1"/>
          <p:nvPr/>
        </p:nvSpPr>
        <p:spPr>
          <a:xfrm>
            <a:off x="1329964" y="3615070"/>
            <a:ext cx="41895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Добавить проверку 18 лет.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Добавить сортировку возрастов (дети, взрослые, пожилые).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Реализовать формат ввода ГГГГ.ММ.ЧЧ.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697AE36-7E57-779A-3BD3-76F6FBFC8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1" y="2618448"/>
            <a:ext cx="4304149" cy="50052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FB65F1D-B771-8316-A01F-E58CDF60091E}"/>
              </a:ext>
            </a:extLst>
          </p:cNvPr>
          <p:cNvSpPr txBox="1"/>
          <p:nvPr/>
        </p:nvSpPr>
        <p:spPr>
          <a:xfrm>
            <a:off x="7450514" y="2710781"/>
            <a:ext cx="39456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FFFFFF"/>
                </a:solidFill>
                <a:ea typeface="Nunito Bold" pitchFamily="34" charset="-122"/>
                <a:cs typeface="Nunito Bold" pitchFamily="34" charset="-120"/>
              </a:rPr>
              <a:t>Какие навыки приобретены</a:t>
            </a:r>
            <a:r>
              <a:rPr lang="en-US" sz="2400" dirty="0">
                <a:solidFill>
                  <a:srgbClr val="FFFFFF"/>
                </a:solidFill>
                <a:ea typeface="Nunito Bold" pitchFamily="34" charset="-122"/>
                <a:cs typeface="Nunito Bold" pitchFamily="34" charset="-120"/>
              </a:rPr>
              <a:t>:</a:t>
            </a:r>
            <a:endParaRPr lang="ru-RU" sz="2400" dirty="0">
              <a:solidFill>
                <a:srgbClr val="FFFFFF"/>
              </a:solidFill>
              <a:ea typeface="Nunito Bold" pitchFamily="34" charset="-122"/>
              <a:cs typeface="Nunito Bold" pitchFamily="34" charset="-120"/>
            </a:endParaRPr>
          </a:p>
          <a:p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E298CF-5584-5390-DCFC-A6635A7EC3C6}"/>
              </a:ext>
            </a:extLst>
          </p:cNvPr>
          <p:cNvSpPr txBox="1"/>
          <p:nvPr/>
        </p:nvSpPr>
        <p:spPr>
          <a:xfrm>
            <a:off x="7641646" y="3449445"/>
            <a:ext cx="37197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· Создание графического интерфейса на Python.</a:t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· Логирование действий программы с записью в файл </a:t>
            </a:r>
            <a:r>
              <a:rPr lang="en-US" sz="2400" dirty="0">
                <a:solidFill>
                  <a:schemeClr val="bg1"/>
                </a:solidFill>
              </a:rPr>
              <a:t>txt</a:t>
            </a:r>
            <a:r>
              <a:rPr lang="ru-RU" sz="2400" dirty="0">
                <a:solidFill>
                  <a:schemeClr val="bg1"/>
                </a:solidFill>
              </a:rPr>
              <a:t>.</a:t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· Построение </a:t>
            </a:r>
            <a:r>
              <a:rPr lang="en-US" sz="2400" dirty="0">
                <a:solidFill>
                  <a:schemeClr val="bg1"/>
                </a:solidFill>
              </a:rPr>
              <a:t>Use</a:t>
            </a:r>
            <a:r>
              <a:rPr lang="ru-RU" sz="2400" dirty="0">
                <a:solidFill>
                  <a:schemeClr val="bg1"/>
                </a:solidFill>
              </a:rPr>
              <a:t> С</a:t>
            </a:r>
            <a:r>
              <a:rPr lang="en-US" sz="2400" dirty="0" err="1">
                <a:solidFill>
                  <a:schemeClr val="bg1"/>
                </a:solidFill>
              </a:rPr>
              <a:t>ase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и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блок-схем для документации.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B59FE23-DA40-1232-52EC-7F47286C6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32103" y="2635583"/>
            <a:ext cx="4304149" cy="500525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C5EE14C-2F98-1528-CC77-C4AAD7985AD3}"/>
              </a:ext>
            </a:extLst>
          </p:cNvPr>
          <p:cNvSpPr txBox="1"/>
          <p:nvPr/>
        </p:nvSpPr>
        <p:spPr>
          <a:xfrm>
            <a:off x="13940864" y="2564666"/>
            <a:ext cx="3141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Что сделано: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85D705-545B-D326-E1E3-23114B33A7F0}"/>
              </a:ext>
            </a:extLst>
          </p:cNvPr>
          <p:cNvSpPr txBox="1"/>
          <p:nvPr/>
        </p:nvSpPr>
        <p:spPr>
          <a:xfrm>
            <a:off x="12872457" y="2828687"/>
            <a:ext cx="420995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Разработана программа с графическим интерфейсом (поле ввода даты рождения, кнопка проверки, вывод результата, кнопка очистки).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Создана система счёта форматы даты (ДД.ММ.ГГГГ).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Встроен цикл: при некорректном вводе даты, программа продолжает свою работу не закрывая окно ввода.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1121</TotalTime>
  <Words>228</Words>
  <Application>Microsoft Office PowerPoint</Application>
  <PresentationFormat>Произвольный</PresentationFormat>
  <Paragraphs>43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Nunito Bold</vt:lpstr>
      <vt:lpstr>Nunito Sans Medium</vt:lpstr>
      <vt:lpstr>Nunito Sans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Иван Веревкин</cp:lastModifiedBy>
  <cp:revision>39</cp:revision>
  <dcterms:created xsi:type="dcterms:W3CDTF">2025-10-16T18:17:35Z</dcterms:created>
  <dcterms:modified xsi:type="dcterms:W3CDTF">2026-04-23T20:41:00Z</dcterms:modified>
</cp:coreProperties>
</file>